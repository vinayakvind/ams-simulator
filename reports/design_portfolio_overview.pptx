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AMS Design Portfolio Overview</a:t>
            </a:r>
          </a:p>
        </p:txBody>
      </p:sp>
      <p:sp>
        <p:nvSpPr>
          <p:cNvPr id="3" name="Subtitle 2"/>
          <p:cNvSpPr>
            <a:spLocks noGrp="1"/>
          </p:cNvSpPr>
          <p:nvPr>
            <p:ph type="subTitle" idx="1"/>
          </p:nvPr>
        </p:nvSpPr>
        <p:spPr/>
        <p:txBody>
          <a:bodyPr/>
          <a:lstStyle/>
          <a:p>
            <a:r>
              <a:t>Generated 2026-05-03 00:58 | Indexed architecture and run summary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Technology Compatibility</a:t>
            </a:r>
          </a:p>
        </p:txBody>
      </p:sp>
      <p:sp>
        <p:nvSpPr>
          <p:cNvPr id="3" name="Content Placeholder 2"/>
          <p:cNvSpPr>
            <a:spLocks noGrp="1"/>
          </p:cNvSpPr>
          <p:nvPr>
            <p:ph idx="1"/>
          </p:nvPr>
        </p:nvSpPr>
        <p:spPr/>
        <p:txBody>
          <a:bodyPr/>
          <a:lstStyle/>
          <a:p>
            <a:pPr>
              <a:defRPr sz="2000"/>
            </a:pPr>
            <a:r>
              <a:t>generic180 (180nm): Generic 180nm CMOS with HV options (automotive)</a:t>
            </a:r>
          </a:p>
          <a:p>
            <a:pPr>
              <a:defRPr sz="2000"/>
            </a:pPr>
            <a:r>
              <a:t>generic130 (130nm): Generic 130nm CMOS</a:t>
            </a:r>
          </a:p>
          <a:p>
            <a:pPr>
              <a:defRPr sz="2000"/>
            </a:pPr>
            <a:r>
              <a:t>generic65 (65nm): Generic 65nm CMOS (low-power)</a:t>
            </a:r>
          </a:p>
          <a:p>
            <a:pPr>
              <a:defRPr sz="2000"/>
            </a:pPr>
            <a:r>
              <a:t>bcd180 (180nm): BCD 180nm - Bipolar/CMOS/DMOS for automotive HV</a:t>
            </a:r>
          </a:p>
          <a:p>
            <a:pPr>
              <a:defRPr sz="2000"/>
            </a:pPr>
            <a:r>
              <a:t>Imported-source support lets the framework wrap existing SPICE, Verilog, or SystemVerilog designs without regenerating them.</a:t>
            </a:r>
          </a:p>
          <a:p>
            <a:pPr>
              <a:defRPr sz="2000"/>
            </a:pPr>
            <a:r>
              <a:t>Technology-aware model cards now come from TechMapper, so the same indexed flow can be retargeted across generic180, generic130, generic65, and bcd180.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Portfolio Snapshot</a:t>
            </a:r>
          </a:p>
        </p:txBody>
      </p:sp>
      <p:sp>
        <p:nvSpPr>
          <p:cNvPr id="3" name="Content Placeholder 2"/>
          <p:cNvSpPr>
            <a:spLocks noGrp="1"/>
          </p:cNvSpPr>
          <p:nvPr>
            <p:ph idx="1"/>
          </p:nvPr>
        </p:nvSpPr>
        <p:spPr/>
        <p:txBody>
          <a:bodyPr/>
          <a:lstStyle/>
          <a:p>
            <a:pPr>
              <a:defRPr sz="2000"/>
            </a:pPr>
            <a:r>
              <a:t>LIN ASIC Indexed Design Reference: PASS</a:t>
            </a:r>
          </a:p>
          <a:p>
            <a:pPr>
              <a:defRPr sz="2000"/>
            </a:pPr>
            <a:r>
              <a:t>SAR ADC Indexed Design Reference: PASS</a:t>
            </a:r>
          </a:p>
          <a:p>
            <a:pPr>
              <a:defRPr sz="2000"/>
            </a:pPr>
            <a:r>
              <a:t>Sigma-Delta ADC Indexed Design Reference: PASS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 ASIC Indexed Design Reference</a:t>
            </a:r>
          </a:p>
        </p:txBody>
      </p:sp>
      <p:sp>
        <p:nvSpPr>
          <p:cNvPr id="3" name="TextBox 2"/>
          <p:cNvSpPr txBox="1"/>
          <p:nvPr/>
        </p:nvSpPr>
        <p:spPr>
          <a:xfrm>
            <a:off x="457200" y="1097280"/>
            <a:ext cx="4023360" cy="5303520"/>
          </a:xfrm>
          <a:prstGeom prst="rect">
            <a:avLst/>
          </a:prstGeom>
          <a:noFill/>
        </p:spPr>
        <p:txBody>
          <a:bodyPr wrap="square">
            <a:spAutoFit/>
          </a:bodyPr>
          <a:lstStyle/>
          <a:p>
            <a:pPr>
              <a:defRPr sz="1900" b="1"/>
            </a:pPr>
            <a:r>
              <a:t>Technology: BCD 180nm for target architecture, generic180 for current simulation framework</a:t>
            </a:r>
          </a:p>
          <a:p>
            <a:pPr>
              <a:defRPr sz="1900"/>
            </a:pPr>
            <a:r>
              <a:t>Blocks: 9</a:t>
            </a:r>
          </a:p>
          <a:p>
            <a:pPr>
              <a:defRPr sz="1700"/>
            </a:pPr>
            <a:r>
              <a:t>VBAT feeds the high-voltage LIN rail and the analog rail. The 3.3V analog rail feeds the bandgap and becomes the source for the 1.8V digital rail. Digital configuration arrives through SPI, lands in the register file, then fans into the control logic and LIN controller.</a:t>
            </a:r>
          </a:p>
        </p:txBody>
      </p:sp>
      <p:sp>
        <p:nvSpPr>
          <p:cNvPr id="4" name="TextBox 3"/>
          <p:cNvSpPr txBox="1"/>
          <p:nvPr/>
        </p:nvSpPr>
        <p:spPr>
          <a:xfrm>
            <a:off x="4663440" y="1097280"/>
            <a:ext cx="3749039" cy="5303520"/>
          </a:xfrm>
          <a:prstGeom prst="rect">
            <a:avLst/>
          </a:prstGeom>
          <a:noFill/>
        </p:spPr>
        <p:txBody>
          <a:bodyPr wrap="square">
            <a:spAutoFit/>
          </a:bodyPr>
          <a:lstStyle/>
          <a:p>
            <a:pPr>
              <a:defRPr sz="2200" b="1">
                <a:solidFill>
                  <a:srgbClr val="2E7D32"/>
                </a:solidFill>
              </a:defRPr>
            </a:pPr>
            <a:r>
              <a:t>Latest Overall: PASS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SAR ADC Indexed Design Reference</a:t>
            </a:r>
          </a:p>
        </p:txBody>
      </p:sp>
      <p:sp>
        <p:nvSpPr>
          <p:cNvPr id="3" name="TextBox 2"/>
          <p:cNvSpPr txBox="1"/>
          <p:nvPr/>
        </p:nvSpPr>
        <p:spPr>
          <a:xfrm>
            <a:off x="457200" y="1097280"/>
            <a:ext cx="4023360" cy="5303520"/>
          </a:xfrm>
          <a:prstGeom prst="rect">
            <a:avLst/>
          </a:prstGeom>
          <a:noFill/>
        </p:spPr>
        <p:txBody>
          <a:bodyPr wrap="square">
            <a:spAutoFit/>
          </a:bodyPr>
          <a:lstStyle/>
          <a:p>
            <a:pPr>
              <a:defRPr sz="1900" b="1"/>
            </a:pPr>
            <a:r>
              <a:t>Technology: generic180 baseline with portability to generic130, generic65, and bcd180 through TechMapper wrappers</a:t>
            </a:r>
          </a:p>
          <a:p>
            <a:pPr>
              <a:defRPr sz="1900"/>
            </a:pPr>
            <a:r>
              <a:t>Blocks: 1</a:t>
            </a:r>
          </a:p>
          <a:p>
            <a:pPr>
              <a:defRPr sz="1700"/>
            </a:pPr>
            <a:r>
              <a:t>Analog input is sampled, compared against a DAC trial voltage, and resolved bit by bit by SAR logic until the digital code converges. The indexed wrapper keeps this architecture reusable even when the underlying implementation file changes.</a:t>
            </a:r>
          </a:p>
        </p:txBody>
      </p:sp>
      <p:sp>
        <p:nvSpPr>
          <p:cNvPr id="4" name="TextBox 3"/>
          <p:cNvSpPr txBox="1"/>
          <p:nvPr/>
        </p:nvSpPr>
        <p:spPr>
          <a:xfrm>
            <a:off x="4663440" y="1097280"/>
            <a:ext cx="3749039" cy="5303520"/>
          </a:xfrm>
          <a:prstGeom prst="rect">
            <a:avLst/>
          </a:prstGeom>
          <a:noFill/>
        </p:spPr>
        <p:txBody>
          <a:bodyPr wrap="square">
            <a:spAutoFit/>
          </a:bodyPr>
          <a:lstStyle/>
          <a:p>
            <a:pPr>
              <a:defRPr sz="2200" b="1">
                <a:solidFill>
                  <a:srgbClr val="2E7D32"/>
                </a:solidFill>
              </a:defRPr>
            </a:pPr>
            <a:r>
              <a:t>Latest Overall: PASS</a:t>
            </a:r>
          </a:p>
          <a:p>
            <a:pPr>
              <a:defRPr sz="1800" b="1"/>
            </a:pPr>
            <a:r>
              <a:t>Top</a:t>
            </a:r>
          </a:p>
          <a:p>
            <a:pPr lvl="1">
              <a:defRPr sz="1600"/>
            </a:pPr>
            <a:r>
              <a:t>TOP-SAR-ADC: PASS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Sigma-Delta ADC Indexed Design Reference</a:t>
            </a:r>
          </a:p>
        </p:txBody>
      </p:sp>
      <p:sp>
        <p:nvSpPr>
          <p:cNvPr id="3" name="TextBox 2"/>
          <p:cNvSpPr txBox="1"/>
          <p:nvPr/>
        </p:nvSpPr>
        <p:spPr>
          <a:xfrm>
            <a:off x="457200" y="1097280"/>
            <a:ext cx="4023360" cy="5303520"/>
          </a:xfrm>
          <a:prstGeom prst="rect">
            <a:avLst/>
          </a:prstGeom>
          <a:noFill/>
        </p:spPr>
        <p:txBody>
          <a:bodyPr wrap="square">
            <a:spAutoFit/>
          </a:bodyPr>
          <a:lstStyle/>
          <a:p>
            <a:pPr>
              <a:defRPr sz="1900" b="1"/>
            </a:pPr>
            <a:r>
              <a:t>Technology: generic180 baseline with portability to generic130, generic65, and bcd180 through TechMapper wrappers</a:t>
            </a:r>
          </a:p>
          <a:p>
            <a:pPr>
              <a:defRPr sz="1900"/>
            </a:pPr>
            <a:r>
              <a:t>Blocks: 1</a:t>
            </a:r>
          </a:p>
          <a:p>
            <a:pPr>
              <a:defRPr sz="1700"/>
            </a:pPr>
            <a:r>
              <a:t>Analog input is integrated against a one-bit feedback DAC, quantized into a bitstream, and then low-pass filtered or decimated to reconstruct the in-band signal. The indexed wrapper keeps that architecture reusable across future implementations and technologies.</a:t>
            </a:r>
          </a:p>
        </p:txBody>
      </p:sp>
      <p:sp>
        <p:nvSpPr>
          <p:cNvPr id="4" name="TextBox 3"/>
          <p:cNvSpPr txBox="1"/>
          <p:nvPr/>
        </p:nvSpPr>
        <p:spPr>
          <a:xfrm>
            <a:off x="4663440" y="1097280"/>
            <a:ext cx="3749039" cy="5303520"/>
          </a:xfrm>
          <a:prstGeom prst="rect">
            <a:avLst/>
          </a:prstGeom>
          <a:noFill/>
        </p:spPr>
        <p:txBody>
          <a:bodyPr wrap="square">
            <a:spAutoFit/>
          </a:bodyPr>
          <a:lstStyle/>
          <a:p>
            <a:pPr>
              <a:defRPr sz="2200" b="1">
                <a:solidFill>
                  <a:srgbClr val="2E7D32"/>
                </a:solidFill>
              </a:defRPr>
            </a:pPr>
            <a:r>
              <a:t>Latest Overall: PASS</a:t>
            </a:r>
          </a:p>
          <a:p>
            <a:pPr>
              <a:defRPr sz="1800" b="1"/>
            </a:pPr>
            <a:r>
              <a:t>Top</a:t>
            </a:r>
          </a:p>
          <a:p>
            <a:pPr lvl="1">
              <a:defRPr sz="1600"/>
            </a:pPr>
            <a:r>
              <a:t>TOP-SIGMA-DELTA-ADC: PASS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